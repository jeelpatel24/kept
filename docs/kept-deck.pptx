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1234440"/>
            <a:ext cx="1371600" cy="13716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13248" y="1152144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6345936" y="2139696"/>
            <a:ext cx="301752" cy="301752"/>
          </a:xfrm>
          <a:prstGeom prst="ellipse">
            <a:avLst/>
          </a:prstGeom>
          <a:solidFill>
            <a:srgbClr val="1F5F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0" y="274320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</a:t>
            </a:r>
            <a:pPr algn="ctr" indent="0" marL="0">
              <a:buNone/>
            </a:pPr>
            <a:r>
              <a:rPr lang="en-US" sz="6600" b="1" dirty="0">
                <a:solidFill>
                  <a:srgbClr val="6F9B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D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said it. Now it's on the board.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4434840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recorded conversation becomes a shared, correctable note — and every commitment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becomes a tracked task on Trello and your calendar. Nothing is written without a human's OK.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Jeel Patel  ·  solo build  ·  AI Builders Hackathon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 die in conversation.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site walk, 8:40 a.m.
</a:t>
            </a:r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“I'll get Marco in to patch the drywall before the painter comes.”
</a:t>
            </a:r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“Painter's booked for the 12th — so by the 10th, latest.”
</a:t>
            </a:r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“And I'll send the revised tile quote by Thursday.”
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evening, both people remember this differently.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Thursday, nobody remembers it at all.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75120" y="1883664"/>
            <a:ext cx="384048" cy="384048"/>
          </a:xfrm>
          <a:prstGeom prst="ellipse">
            <a:avLst/>
          </a:prstGeom>
          <a:solidFill>
            <a:srgbClr val="C93A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1883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writes it down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21284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lives in two memories that drift apart by dinner.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75120" y="3300984"/>
            <a:ext cx="384048" cy="384048"/>
          </a:xfrm>
          <a:prstGeom prst="ellipse">
            <a:avLst/>
          </a:prstGeom>
          <a:solidFill>
            <a:srgbClr val="C93A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246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person's version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363016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in one person's app the other never sees. A summary is not an agreement.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675120" y="4718304"/>
            <a:ext cx="384048" cy="384048"/>
          </a:xfrm>
          <a:prstGeom prst="ellipse">
            <a:avLst/>
          </a:prstGeom>
          <a:solidFill>
            <a:srgbClr val="C93A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0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4663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becomes a task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504748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written down, it lands on no board, gets no date, and no reminder fires.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0807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construction alone this means rework, missed inspection windows, and disputes over what was agreed.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3991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Kept · AI Builders Hackathon 2026 · 2/10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ledger of who owes what — not a summary.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700784" cy="1234440"/>
          </a:xfrm>
          <a:prstGeom prst="roundRect">
            <a:avLst>
              <a:gd name="adj" fmla="val 7407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5681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26771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browser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267712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05456" y="1828800"/>
            <a:ext cx="1700784" cy="1234440"/>
          </a:xfrm>
          <a:prstGeom prst="roundRect">
            <a:avLst>
              <a:gd name="adj" fmla="val 7407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05456" y="195681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TRANSCRIBE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78608" y="226771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large-v3 · 0.5 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133088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70832" y="1828800"/>
            <a:ext cx="1700784" cy="1234440"/>
          </a:xfrm>
          <a:prstGeom prst="roundRect">
            <a:avLst>
              <a:gd name="adj" fmla="val 7407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0832" y="195681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43984" y="226771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· what 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when · 1.5 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98464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36208" y="1828800"/>
            <a:ext cx="1700784" cy="1234440"/>
          </a:xfrm>
          <a:prstGeom prst="roundRect">
            <a:avLst>
              <a:gd name="adj" fmla="val 7407"/>
            </a:avLst>
          </a:prstGeom>
          <a:solidFill>
            <a:srgbClr val="FAF1DF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6208" y="195681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5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26771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auto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01584" y="1828800"/>
            <a:ext cx="1700784" cy="1234440"/>
          </a:xfrm>
          <a:prstGeom prst="roundRect">
            <a:avLst>
              <a:gd name="adj" fmla="val 7407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01584" y="195681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174736" y="226771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link,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729216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966960" y="1828800"/>
            <a:ext cx="1700784" cy="1234440"/>
          </a:xfrm>
          <a:prstGeom prst="roundRect">
            <a:avLst>
              <a:gd name="adj" fmla="val 7407"/>
            </a:avLst>
          </a:prstGeom>
          <a:solidFill>
            <a:srgbClr val="E4ECFC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66960" y="195681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64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040112" y="226771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Trello cards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calendar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20440"/>
          <a:ext cx="1090879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480560"/>
                <a:gridCol w="2130552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6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6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OWES WHAT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6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BY WHEN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6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WHERE IT LIVES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Ravi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Patch the drywall in 204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 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Trello card ↗ · calendar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Ravi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Send the revised tile quote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Thu, Aug 27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Trello card ↗ · calendar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Send the deposit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5A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Fri, Sep 4  ⚠ confirm?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Trello card ↗ · calendar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 txBox="1"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row cites the exact sentence in the transcript that created it. Both parties see the same note; either can correct it.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seconds after the conversation ends — nobody typed a thing.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43991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Kept · AI Builders Hackathon 2026 · 3/10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USERS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one user first: the job site.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48840"/>
            <a:ext cx="685800" cy="68580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2128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 — site coordinator (primary)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06324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in hand, gloves off for thirty seconds. Four conversations before lunch; remembers two by evening. Will not open a laptop.
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Kept gives him: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typing during the conversation, one tap to record, one tap to send everything to his board.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148840"/>
            <a:ext cx="685800" cy="685800"/>
          </a:xfrm>
          <a:prstGeom prst="ellipse">
            <a:avLst/>
          </a:prstGeom>
          <a:solidFill>
            <a:srgbClr val="1F5F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2128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 — the other party (guest)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06324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a link. Has no account and no intention of getting one. Thirty seconds of patience, maximum.
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Kept gives her: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items first, read in one glance, and a one-tap “Something wrong?” to suggest a correction — no signup, ever.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consequence: 52 px tap targets for gloves, 17 px type for sunlight, one obvious action per screen. Next: consultants, agencies, freelancers on scoping calls.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43991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Kept · AI Builders Hackathon 2026 · 4/10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FEATURES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ships and works today.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84448" cy="2057400"/>
          </a:xfrm>
          <a:prstGeom prst="roundRect">
            <a:avLst>
              <a:gd name="adj" fmla="val 4444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57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recording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517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browser, consent prompt, live level meter, 20-minute cap, 30 s chunked upload.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7408" y="1783080"/>
            <a:ext cx="3584448" cy="2057400"/>
          </a:xfrm>
          <a:prstGeom prst="roundRect">
            <a:avLst>
              <a:gd name="adj" fmla="val 4444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201168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76088" y="2057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ledger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6517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Decisions, commitments (owner + due date) and open questions — each with status open/done.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74736" y="1783080"/>
            <a:ext cx="3584448" cy="2057400"/>
          </a:xfrm>
          <a:prstGeom prst="roundRect">
            <a:avLst>
              <a:gd name="adj" fmla="val 4444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03336" y="201168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03336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5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043416" y="2057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on every item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26517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card links to the exact transcript sentence. The database rejects items without a source.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584448" cy="2057400"/>
          </a:xfrm>
          <a:prstGeom prst="roundRect">
            <a:avLst>
              <a:gd name="adj" fmla="val 4444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25196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5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297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confirm gate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8920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Unsure dates and owners turn amber and block confirmation until a human touches them.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07408" y="4023360"/>
            <a:ext cx="3584448" cy="2057400"/>
          </a:xfrm>
          <a:prstGeom prst="roundRect">
            <a:avLst>
              <a:gd name="adj" fmla="val 4444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25196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276088" y="4297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truth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48920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signed link, no account. The other party reads their items and suggests corrections you accept or reject.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74736" y="4023360"/>
            <a:ext cx="3584448" cy="2057400"/>
          </a:xfrm>
          <a:prstGeom prst="roundRect">
            <a:avLst>
              <a:gd name="adj" fmla="val 4444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03336" y="425196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03336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043416" y="4297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403336" y="48920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items become Trello cards (idempotent, per-item retry) and .ics / webcal events with reminders.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43991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Kept · AI Builders Hackathon 2026 · 5/10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5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IS DIFFERENT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proposes. The human disposes.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Meeting-notes tools hallucinate confidently. Kept is engineered to refuse: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90879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3426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6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WHEN THE MODEL IS…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67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KEPT DOES…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unsure who owns a task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shows a “Who?” chip — never defaults to the speaker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unsure about a date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5A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amber “confirm?” chip that BLOCKS confirmation until touched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given no date at all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leaves it empty — never defaults to “today”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unable to cite the transcript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drops the item — DB constraint: CHECK (array_length(source_segment_ids) ≥ 1)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returning malformed JSON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schema-guided repair retry, then a visible failure with the raw transcript intact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4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34924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AF1DF"/>
          </a:solidFill>
          <a:ln w="15875">
            <a:solidFill>
              <a:srgbClr val="E09A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546811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appears in exactly one situation: the model is unsure and needs a human.  </a:t>
            </a:r>
            <a:pPr indent="0" marL="0">
              <a:buNone/>
            </a:pPr>
            <a:r>
              <a:rPr lang="en-US" sz="1450" dirty="0">
                <a:solidFill>
                  <a:srgbClr val="8A5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is a first-class UI state — surfaced, never hidden. That is the trust story, told visually, in every review.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43991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Kept · AI Builders Hackathon 2026 · 6/10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deployable. Zod at every boundary. RLS on every table.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browser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5856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client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MediaRecorder → 30 s chunks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20440" y="182880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E4ECFC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193852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Route Handlers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25856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· transcribe · extract · notes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· trello · calendar.ics · email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01000" y="1572768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6824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 + Storage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20025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everywhere · audio deleted post-transcript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01000" y="2624328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27340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· OpenRouter · Trello · Resend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30540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call: timeout + retry + typed failure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090672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94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64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379476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keys server-only (CI scans the client bundle) · Trello tokens AES-256-GCM at rest · share links HMAC-signed, expiring, revocable · guest access never touches RLS — service role after token check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6634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64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4663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router with ordered fallback (429 → next provider) · idempotent Trello dispatch with per-item retry · honest failure screens — never a blank page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532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644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331720" y="553212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strict · 71 unit tests (36-case relative-date fixture table, tokens, crypto, ics) · GitHub Actions CI: typecheck, lint, test, build, secret scan · 18-commit build history with requirement traceability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43991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Kept · AI Builders Hackathon 2026 · 7/10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UNDER THE HOOD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where it helps. Deterministic code where it matters.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406640" cy="868680"/>
          </a:xfrm>
          <a:prstGeom prst="roundRect">
            <a:avLst>
              <a:gd name="adj" fmla="val 8421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TRANSCRIPTION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305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large-v3 on Groq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187452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s for 90 s of audio. Fallback: Gemini native audio via OpenRouter.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70632"/>
            <a:ext cx="7406640" cy="868680"/>
          </a:xfrm>
          <a:prstGeom prst="roundRect">
            <a:avLst>
              <a:gd name="adj" fmla="val 8421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862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EXTRACTION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1181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 (OpenRouter)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86207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Strict-JSON prompt → Zod validation → one repair retry. Fallback: GPT-OSS-120B on Groq.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758184"/>
            <a:ext cx="7406640" cy="868680"/>
          </a:xfrm>
          <a:prstGeom prst="roundRect">
            <a:avLst>
              <a:gd name="adj" fmla="val 8421"/>
            </a:avLst>
          </a:prstGeom>
          <a:solidFill>
            <a:srgbClr val="E4ECFC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8496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RESOLUTION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10565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resolver, not the model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849624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“end of next week” → a date, anchored to recording time + timezone. 36-case test fixture. Model output only ever demotes confidence to amber.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745736"/>
            <a:ext cx="7406640" cy="868680"/>
          </a:xfrm>
          <a:prstGeom prst="roundRect">
            <a:avLst>
              <a:gd name="adj" fmla="val 8421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8371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SPEAKER LABELS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0932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inference, human-editable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4837176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diarization theater — labels are proposed from the words and fixed with one tap.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321040" y="178308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1B243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21040" y="18928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s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24414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transcription, 90 s audio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21040" y="310896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1B243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21040" y="32186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 s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0" y="3767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to draft note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21040" y="4434840"/>
            <a:ext cx="3200400" cy="1188720"/>
          </a:xfrm>
          <a:prstGeom prst="roundRect">
            <a:avLst>
              <a:gd name="adj" fmla="val 7692"/>
            </a:avLst>
          </a:prstGeom>
          <a:solidFill>
            <a:srgbClr val="1B243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21040" y="45445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$20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50932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model spend — content-hash cache never re-bills a repeat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provider chains configured by env — a rate limit on stage moves to the next provider mid-request. Every model result is cached by content hash.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43991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Kept · AI Builders Hackathon 2026 · 8/10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&amp; VALUE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“we said it” to “it's on the board” — in under a minute.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70048" cy="1737360"/>
          </a:xfrm>
          <a:prstGeom prst="roundRect">
            <a:avLst>
              <a:gd name="adj" fmla="val 5263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38528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stop-recording to a reviewable, correctable note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93008" y="1783080"/>
            <a:ext cx="2670048" cy="1737360"/>
          </a:xfrm>
          <a:prstGeom prst="roundRect">
            <a:avLst>
              <a:gd name="adj" fmla="val 5263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93008" y="1938528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75888" y="2697480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typing during the conversation — hands stay in gloves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45936" y="1783080"/>
            <a:ext cx="2670048" cy="1737360"/>
          </a:xfrm>
          <a:prstGeom prst="roundRect">
            <a:avLst>
              <a:gd name="adj" fmla="val 5263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45936" y="1938528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528816" y="2697480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dispatched tasks were confirmed by a human first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98864" y="1783080"/>
            <a:ext cx="2670048" cy="1737360"/>
          </a:xfrm>
          <a:prstGeom prst="roundRect">
            <a:avLst>
              <a:gd name="adj" fmla="val 5263"/>
            </a:avLst>
          </a:prstGeom>
          <a:solidFill>
            <a:srgbClr val="F4F2ED"/>
          </a:solidFill>
          <a:ln w="12700">
            <a:solidFill>
              <a:srgbClr val="D8D4C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98864" y="1938528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381744" y="2697480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holding the same record instead of two versions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that buys the user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2976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dropped commitments — the follow-up exists before the handshake ends.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disputes — a shared, corrected record beats two conflicting memories.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on demand — open a card three weeks later and read the exact sentence that created it.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0" y="3977640"/>
            <a:ext cx="4690872" cy="2148840"/>
          </a:xfrm>
          <a:prstGeom prst="roundRect">
            <a:avLst>
              <a:gd name="adj" fmla="val 4255"/>
            </a:avLst>
          </a:prstGeom>
          <a:solidFill>
            <a:srgbClr val="E6F1EA"/>
          </a:solidFill>
          <a:ln w="12700">
            <a:solidFill>
              <a:srgbClr val="2E7A5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0" y="4160520"/>
            <a:ext cx="4160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E7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and working today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Vercel · full flow works end-to-end on a real phone: record → note → shared link on a second device → cards on a real Trello board.
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 can open a shared note with one click — no account, no mic needed.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3991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Kept · AI Builders Hackathon 2026 · 9/10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ledger is the wedge.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10512"/>
            <a:ext cx="256032" cy="256032"/>
          </a:xfrm>
          <a:prstGeom prst="ellipse">
            <a:avLst/>
          </a:prstGeom>
          <a:solidFill>
            <a:srgbClr val="2E7A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E7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— SHIPPED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0848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D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Two-party conversations, English. Trello + .ics/webcal. Shared correctable notes with provenance.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044952"/>
            <a:ext cx="256032" cy="256032"/>
          </a:xfrm>
          <a:prstGeom prst="ellipse">
            <a:avLst/>
          </a:prstGeom>
          <a:solidFill>
            <a:srgbClr val="1F5F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F5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— ADJACENT USERS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31927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D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Consultants, agencies, freelancers on scoping calls. Commitment status nudges (“Thursday is tomorrow — quote not sent”). Calendar OAuth two-way sync.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279392"/>
            <a:ext cx="256032" cy="256032"/>
          </a:xfrm>
          <a:prstGeom prst="ellipse">
            <a:avLst/>
          </a:prstGeom>
          <a:solidFill>
            <a:srgbClr val="9AA5B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AA5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LATER — THE RECORD OF WORK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55371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D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and orgs · CRM / Slack / Jira dispatch targets · diarization when it's actually good · multilingual · the searchable history of everything two parties ever agreed.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3816" y="2148840"/>
            <a:ext cx="0" cy="2377440"/>
          </a:xfrm>
          <a:prstGeom prst="line">
            <a:avLst/>
          </a:prstGeom>
          <a:noFill/>
          <a:ln w="19050">
            <a:solidFill>
              <a:srgbClr val="3A45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4864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232E3D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5669280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63636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2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120" dirty="0"/>
          </a:p>
        </p:txBody>
      </p:sp>
      <p:sp>
        <p:nvSpPr>
          <p:cNvPr id="17" name="Shape 15"/>
          <p:cNvSpPr/>
          <p:nvPr/>
        </p:nvSpPr>
        <p:spPr>
          <a:xfrm>
            <a:off x="1287475" y="6031382"/>
            <a:ext cx="120701" cy="120701"/>
          </a:xfrm>
          <a:prstGeom prst="ellipse">
            <a:avLst/>
          </a:prstGeom>
          <a:solidFill>
            <a:srgbClr val="1F5FE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691640" y="54864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github.com/jeelpatel24/Kept</a:t>
            </a:r>
            <a:pPr indent="0" marL="0">
              <a:buNone/>
            </a:pPr>
            <a:r>
              <a:rPr lang="en-US" sz="13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live: kept-omega-liart.vercel.app   ·   MIT licensed   ·   </a:t>
            </a:r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 shouldn't die in conversation.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439912" y="6473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Kept · AI Builders Hackathon 2026 · 10/10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2026-08-27T15:53:29Z</dcterms:created>
  <dcterms:modified xsi:type="dcterms:W3CDTF">2026-08-27T15:53:29Z</dcterms:modified>
</cp:coreProperties>
</file>